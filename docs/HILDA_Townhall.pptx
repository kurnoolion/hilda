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How We Work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46E7A"/>
                </a:solidFill>
                <a:latin typeface="Calibri"/>
              </a:rPr>
              <a:t>A look at the day-to-day reality for PMs managing connected-device programs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5394960" cy="88696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64008" cy="88696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Duplicated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1937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Every new device × customer combination starts from scratch — a fresh Excel built manually or copied and adapted from a previous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87752"/>
            <a:ext cx="5394960" cy="88696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587752"/>
            <a:ext cx="64008" cy="88696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No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07792"/>
            <a:ext cx="51937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Status is stale by the time it's shared. Stakeholders email PMs for updates that should be self-serve in a live dashboard.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75304"/>
            <a:ext cx="5394960" cy="88696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575304"/>
            <a:ext cx="64008" cy="88696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39312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Onboarding takes too long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95344"/>
            <a:ext cx="51937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A new PM or new device starts from zero. The process and context live in one person's head — not in the system.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00200"/>
            <a:ext cx="5394960" cy="88696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600200"/>
            <a:ext cx="64008" cy="88696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664208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Context scattered across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20240"/>
            <a:ext cx="51937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The same delivery item has threads in email, messenger, and an issue tracker. PMs mentally stitch it all together every day.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87752"/>
            <a:ext cx="5394960" cy="88696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587752"/>
            <a:ext cx="64008" cy="88696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65176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Customer submission is fully 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907792"/>
            <a:ext cx="51937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PMs log into each customer system individually, format files per their requirements, and upload one by 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8909C"/>
                </a:solidFill>
                <a:latin typeface="Calibri"/>
              </a:rPr>
              <a:t>Result: high PM toil  ·  slow turnaround  ·  no scalability to new customers or new PMs without growing headcount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Introducing HILDA / DeliverableHub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46E7A"/>
                </a:solidFill>
                <a:latin typeface="Calibri"/>
              </a:rPr>
              <a:t>Template-driven automation for the full deliverable lifecycle — PM manages by exception, not by spreadsheet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39" y="1691640"/>
            <a:ext cx="1965960" cy="1508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39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  Template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19" y="2121408"/>
            <a:ext cx="1600200" cy="27432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79" y="21945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1"/>
                </a:solidFill>
                <a:latin typeface="Calibri"/>
              </a:rPr>
              <a:t>PM selects customer
template; full tracker
auto-generated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9" y="22860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46E7A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1691640"/>
            <a:ext cx="1965960" cy="1508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  Kickoff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2121408"/>
            <a:ext cx="1600200" cy="27432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1945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1"/>
                </a:solidFill>
                <a:latin typeface="Calibri"/>
              </a:rPr>
              <a:t>One click sends
structured requests
to every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7" y="22860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46E7A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1496" y="1691640"/>
            <a:ext cx="1965960" cy="1508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  Track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4376" y="2121408"/>
            <a:ext cx="1600200" cy="27432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2936" y="21945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1"/>
                </a:solidFill>
                <a:latin typeface="Calibri"/>
              </a:rPr>
              <a:t>Automation captures
responses &amp; updates
dashboard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22860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46E7A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8624" y="1691640"/>
            <a:ext cx="1965960" cy="1508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8624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 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61504" y="2121408"/>
            <a:ext cx="1600200" cy="27432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1945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1"/>
                </a:solidFill>
                <a:latin typeface="Calibri"/>
              </a:rPr>
              <a:t>AI first-pass quality
check; PM resolves
open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22860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46E7A"/>
                </a:solidFill>
                <a:latin typeface="Calibr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45752" y="1691640"/>
            <a:ext cx="1965960" cy="1508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45752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  Submit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8632" y="2121408"/>
            <a:ext cx="1600200" cy="27432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37192" y="21945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1"/>
                </a:solidFill>
                <a:latin typeface="Calibri"/>
              </a:rPr>
              <a:t>Package assembled
per customer format;
PM previews &amp; approves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401568"/>
            <a:ext cx="10908792" cy="621792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401568"/>
            <a:ext cx="64008" cy="621792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45643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Human-in-the-loop  —  Every customer-facing action requires explicit PM sign-off.  HILDA assists; it never acts on your behalf without approval.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What changes for you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462272"/>
            <a:ext cx="3703320" cy="804672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462272"/>
            <a:ext cx="64008" cy="804672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526280"/>
            <a:ext cx="35021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PMs / TPMs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82312"/>
            <a:ext cx="350215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  <a:latin typeface="Calibri"/>
              </a:rPr>
              <a:t>Dashboard replaces Excel. Approvals replace copy-paste. All channels in one place.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4462272"/>
            <a:ext cx="3703320" cy="804672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4462272"/>
            <a:ext cx="64008" cy="804672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53128" y="4526280"/>
            <a:ext cx="35021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R&amp;D owners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3128" y="4782312"/>
            <a:ext cx="350215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  <a:latin typeface="Calibri"/>
              </a:rPr>
              <a:t>Structured requests with clear reference tags. Fewer follow-up emails chasing status.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11896" y="4462272"/>
            <a:ext cx="3703320" cy="804672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11896" y="4462272"/>
            <a:ext cx="64008" cy="804672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49056" y="4526280"/>
            <a:ext cx="35021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PM team leads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4782312"/>
            <a:ext cx="350215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4F"/>
                </a:solidFill>
                <a:latin typeface="Calibri"/>
              </a:rPr>
              <a:t>Author templates once. Every device and new PM inherits them — no bespoke trackers.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Current Status &amp; What's Coming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46E7A"/>
                </a:solidFill>
                <a:latin typeface="Calibri"/>
              </a:rPr>
              <a:t>Dates are tentative — we will keep the team updated as targets firm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5440680" cy="4754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7276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  ·  Target: 30 Jun 2026 (tentative)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30552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•  SharePoint dashboard — live delivery status per device &amp; milestone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•  Email ingest — structured + free-text reply routing to delivery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15768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•  Shared network drive — owner document drop &amp; auto-classification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08375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•  Corp PLM polling — document download &amp; indexing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00983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•  Rule-based reminders &amp; escalation (configurable schedule)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93591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•  Jira (internal tracker) + Slack messenger adapters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6199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•  Test report parser + final / interim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78807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•  AI quality review — first-pass findings on reports &amp; waivers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1572768"/>
            <a:ext cx="5440680" cy="47548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57276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2  ·  Target: 31 Jul 2026 (tentative)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130552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◦  Revision tracking — multi-version document lifecycle per 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423160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◦  Version selection workflow via corp messenger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715768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◦  PLM sync &amp; stale attachment cleanup post-submission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008375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◦  Customer portal submission — assembled package, PM sign-off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300983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◦  Proprietary internal messenger adapter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593591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◦  PM resolution-path annotation for failed test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886199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◦  SharePoint document upload surface (PM / TPM)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4178807"/>
            <a:ext cx="5257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◦  Per-item owner self-close from SharePoint 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8909C"/>
                </a:solidFill>
                <a:latin typeface="Calibri"/>
              </a:rPr>
              <a:t>Questions or feedback? Reach out to the HILDA team  ·  Detailed walkthroughs coming as we approach Phase 1 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